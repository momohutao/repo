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8"/>
  </p:handoutMasterIdLst>
  <p:sldIdLst>
    <p:sldId id="260" r:id="rId3"/>
    <p:sldId id="257" r:id="rId4"/>
    <p:sldId id="259" r:id="rId6"/>
    <p:sldId id="256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8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模块定位解释仿真模拟模块主要用于模拟车辆运行状态与交通异常，支持10辆车以上循环运行。它可以帮助开发人员在实际部署前对系统进行全面的测试和优化。仿真模拟模块核心功能描述车辆状态机定义了车辆的多种状态，如IDLE、MOVING、LOADING等，能够准确地模拟车辆的实际运行情况。随机交通异常触发与处理则增加了仿真的真实性和可靠性。技术挑战剖析多车并发状态同步是仿真模拟模块的一个难点，需要确保多辆车的状态能够准确同步，避免出现状态不一致的情况。此外，异常事件随机性设计也需要合理控制，以保证仿真的有效性。</a:t>
            </a:r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未命名绘图.drawio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6150" y="828675"/>
            <a:ext cx="7589520" cy="55441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973875" y="4473176"/>
            <a:ext cx="333144" cy="333144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flipH="1">
            <a:off x="811879" y="151672"/>
            <a:ext cx="10939376" cy="426343"/>
          </a:xfrm>
          <a:custGeom>
            <a:avLst/>
            <a:gdLst>
              <a:gd name="connsiteX0" fmla="*/ 10939376 w 10939376"/>
              <a:gd name="connsiteY0" fmla="*/ 0 h 426343"/>
              <a:gd name="connsiteX1" fmla="*/ 8834020 w 10939376"/>
              <a:gd name="connsiteY1" fmla="*/ 0 h 426343"/>
              <a:gd name="connsiteX2" fmla="*/ 8107647 w 10939376"/>
              <a:gd name="connsiteY2" fmla="*/ 0 h 426343"/>
              <a:gd name="connsiteX3" fmla="*/ 7875400 w 10939376"/>
              <a:gd name="connsiteY3" fmla="*/ 0 h 426343"/>
              <a:gd name="connsiteX4" fmla="*/ 6002291 w 10939376"/>
              <a:gd name="connsiteY4" fmla="*/ 0 h 426343"/>
              <a:gd name="connsiteX5" fmla="*/ 5770044 w 10939376"/>
              <a:gd name="connsiteY5" fmla="*/ 0 h 426343"/>
              <a:gd name="connsiteX6" fmla="*/ 5275919 w 10939376"/>
              <a:gd name="connsiteY6" fmla="*/ 0 h 426343"/>
              <a:gd name="connsiteX7" fmla="*/ 5043671 w 10939376"/>
              <a:gd name="connsiteY7" fmla="*/ 0 h 426343"/>
              <a:gd name="connsiteX8" fmla="*/ 3170562 w 10939376"/>
              <a:gd name="connsiteY8" fmla="*/ 0 h 426343"/>
              <a:gd name="connsiteX9" fmla="*/ 2938314 w 10939376"/>
              <a:gd name="connsiteY9" fmla="*/ 0 h 426343"/>
              <a:gd name="connsiteX10" fmla="*/ 2211942 w 10939376"/>
              <a:gd name="connsiteY10" fmla="*/ 0 h 426343"/>
              <a:gd name="connsiteX11" fmla="*/ 106586 w 10939376"/>
              <a:gd name="connsiteY11" fmla="*/ 0 h 426343"/>
              <a:gd name="connsiteX12" fmla="*/ 0 w 10939376"/>
              <a:gd name="connsiteY12" fmla="*/ 426343 h 426343"/>
              <a:gd name="connsiteX13" fmla="*/ 2105356 w 10939376"/>
              <a:gd name="connsiteY13" fmla="*/ 426343 h 426343"/>
              <a:gd name="connsiteX14" fmla="*/ 2831729 w 10939376"/>
              <a:gd name="connsiteY14" fmla="*/ 426343 h 426343"/>
              <a:gd name="connsiteX15" fmla="*/ 3063976 w 10939376"/>
              <a:gd name="connsiteY15" fmla="*/ 426343 h 426343"/>
              <a:gd name="connsiteX16" fmla="*/ 4937085 w 10939376"/>
              <a:gd name="connsiteY16" fmla="*/ 426343 h 426343"/>
              <a:gd name="connsiteX17" fmla="*/ 5169333 w 10939376"/>
              <a:gd name="connsiteY17" fmla="*/ 426343 h 426343"/>
              <a:gd name="connsiteX18" fmla="*/ 5663458 w 10939376"/>
              <a:gd name="connsiteY18" fmla="*/ 426343 h 426343"/>
              <a:gd name="connsiteX19" fmla="*/ 5895706 w 10939376"/>
              <a:gd name="connsiteY19" fmla="*/ 426343 h 426343"/>
              <a:gd name="connsiteX20" fmla="*/ 7768814 w 10939376"/>
              <a:gd name="connsiteY20" fmla="*/ 426343 h 426343"/>
              <a:gd name="connsiteX21" fmla="*/ 8001062 w 10939376"/>
              <a:gd name="connsiteY21" fmla="*/ 426343 h 426343"/>
              <a:gd name="connsiteX22" fmla="*/ 8727434 w 10939376"/>
              <a:gd name="connsiteY22" fmla="*/ 426343 h 426343"/>
              <a:gd name="connsiteX23" fmla="*/ 10832790 w 10939376"/>
              <a:gd name="connsiteY23" fmla="*/ 426343 h 426343"/>
            </a:gdLst>
            <a:ahLst/>
            <a:cxnLst/>
            <a:rect l="l" t="t" r="r" b="b"/>
            <a:pathLst>
              <a:path w="10939376" h="426343">
                <a:moveTo>
                  <a:pt x="10939376" y="0"/>
                </a:moveTo>
                <a:lnTo>
                  <a:pt x="8834020" y="0"/>
                </a:lnTo>
                <a:lnTo>
                  <a:pt x="8107647" y="0"/>
                </a:lnTo>
                <a:lnTo>
                  <a:pt x="7875400" y="0"/>
                </a:lnTo>
                <a:lnTo>
                  <a:pt x="6002291" y="0"/>
                </a:lnTo>
                <a:lnTo>
                  <a:pt x="5770044" y="0"/>
                </a:lnTo>
                <a:lnTo>
                  <a:pt x="5275919" y="0"/>
                </a:lnTo>
                <a:lnTo>
                  <a:pt x="5043671" y="0"/>
                </a:lnTo>
                <a:lnTo>
                  <a:pt x="3170562" y="0"/>
                </a:lnTo>
                <a:lnTo>
                  <a:pt x="2938314" y="0"/>
                </a:lnTo>
                <a:lnTo>
                  <a:pt x="2211942" y="0"/>
                </a:lnTo>
                <a:lnTo>
                  <a:pt x="106586" y="0"/>
                </a:lnTo>
                <a:lnTo>
                  <a:pt x="0" y="426343"/>
                </a:lnTo>
                <a:lnTo>
                  <a:pt x="2105356" y="426343"/>
                </a:lnTo>
                <a:lnTo>
                  <a:pt x="2831729" y="426343"/>
                </a:lnTo>
                <a:lnTo>
                  <a:pt x="3063976" y="426343"/>
                </a:lnTo>
                <a:lnTo>
                  <a:pt x="4937085" y="426343"/>
                </a:lnTo>
                <a:lnTo>
                  <a:pt x="5169333" y="426343"/>
                </a:lnTo>
                <a:lnTo>
                  <a:pt x="5663458" y="426343"/>
                </a:lnTo>
                <a:lnTo>
                  <a:pt x="5895706" y="426343"/>
                </a:lnTo>
                <a:lnTo>
                  <a:pt x="7768814" y="426343"/>
                </a:lnTo>
                <a:lnTo>
                  <a:pt x="8001062" y="426343"/>
                </a:lnTo>
                <a:lnTo>
                  <a:pt x="8727434" y="426343"/>
                </a:lnTo>
                <a:lnTo>
                  <a:pt x="10832790" y="426343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标题 1"/>
          <p:cNvSpPr txBox="1"/>
          <p:nvPr/>
        </p:nvSpPr>
        <p:spPr>
          <a:xfrm flipH="1">
            <a:off x="607512" y="292767"/>
            <a:ext cx="204367" cy="673100"/>
          </a:xfrm>
          <a:custGeom>
            <a:avLst/>
            <a:gdLst>
              <a:gd name="connsiteX0" fmla="*/ 204367 w 204367"/>
              <a:gd name="connsiteY0" fmla="*/ 0 h 673100"/>
              <a:gd name="connsiteX1" fmla="*/ 168275 w 204367"/>
              <a:gd name="connsiteY1" fmla="*/ 0 h 673100"/>
              <a:gd name="connsiteX2" fmla="*/ 0 w 204367"/>
              <a:gd name="connsiteY2" fmla="*/ 673100 h 673100"/>
              <a:gd name="connsiteX3" fmla="*/ 36092 w 204367"/>
              <a:gd name="connsiteY3" fmla="*/ 673100 h 673100"/>
              <a:gd name="connsiteX4" fmla="*/ 204367 w 204367"/>
              <a:gd name="connsiteY4" fmla="*/ 0 h 673100"/>
            </a:gdLst>
            <a:ahLst/>
            <a:cxnLst/>
            <a:rect l="l" t="t" r="r" b="b"/>
            <a:pathLst>
              <a:path w="204367" h="673100">
                <a:moveTo>
                  <a:pt x="204367" y="0"/>
                </a:moveTo>
                <a:lnTo>
                  <a:pt x="168275" y="0"/>
                </a:lnTo>
                <a:lnTo>
                  <a:pt x="0" y="673100"/>
                </a:lnTo>
                <a:lnTo>
                  <a:pt x="36092" y="673100"/>
                </a:lnTo>
                <a:lnTo>
                  <a:pt x="204367" y="0"/>
                </a:ln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flipH="1">
            <a:off x="40686" y="292767"/>
            <a:ext cx="681040" cy="426343"/>
          </a:xfrm>
          <a:custGeom>
            <a:avLst/>
            <a:gdLst>
              <a:gd name="connsiteX0" fmla="*/ 556291 w 556291"/>
              <a:gd name="connsiteY0" fmla="*/ 0 h 348248"/>
              <a:gd name="connsiteX1" fmla="*/ 87062 w 556291"/>
              <a:gd name="connsiteY1" fmla="*/ 0 h 348248"/>
              <a:gd name="connsiteX2" fmla="*/ 0 w 556291"/>
              <a:gd name="connsiteY2" fmla="*/ 348248 h 348248"/>
              <a:gd name="connsiteX3" fmla="*/ 469229 w 556291"/>
              <a:gd name="connsiteY3" fmla="*/ 348248 h 348248"/>
              <a:gd name="connsiteX4" fmla="*/ 556291 w 556291"/>
              <a:gd name="connsiteY4" fmla="*/ 0 h 348248"/>
            </a:gdLst>
            <a:ahLst/>
            <a:cxnLst/>
            <a:rect l="l" t="t" r="r" b="b"/>
            <a:pathLst>
              <a:path w="556291" h="348248">
                <a:moveTo>
                  <a:pt x="556291" y="0"/>
                </a:moveTo>
                <a:lnTo>
                  <a:pt x="87062" y="0"/>
                </a:lnTo>
                <a:lnTo>
                  <a:pt x="0" y="348248"/>
                </a:lnTo>
                <a:lnTo>
                  <a:pt x="469229" y="348248"/>
                </a:lnTo>
                <a:lnTo>
                  <a:pt x="556291" y="0"/>
                </a:ln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flipH="1">
            <a:off x="663200" y="-56594"/>
            <a:ext cx="204367" cy="673100"/>
          </a:xfrm>
          <a:custGeom>
            <a:avLst/>
            <a:gdLst>
              <a:gd name="connsiteX0" fmla="*/ 204367 w 204367"/>
              <a:gd name="connsiteY0" fmla="*/ 0 h 673100"/>
              <a:gd name="connsiteX1" fmla="*/ 168275 w 204367"/>
              <a:gd name="connsiteY1" fmla="*/ 0 h 673100"/>
              <a:gd name="connsiteX2" fmla="*/ 0 w 204367"/>
              <a:gd name="connsiteY2" fmla="*/ 673100 h 673100"/>
              <a:gd name="connsiteX3" fmla="*/ 36092 w 204367"/>
              <a:gd name="connsiteY3" fmla="*/ 673100 h 673100"/>
              <a:gd name="connsiteX4" fmla="*/ 204367 w 204367"/>
              <a:gd name="connsiteY4" fmla="*/ 0 h 673100"/>
            </a:gdLst>
            <a:ahLst/>
            <a:cxnLst/>
            <a:rect l="l" t="t" r="r" b="b"/>
            <a:pathLst>
              <a:path w="204367" h="673100">
                <a:moveTo>
                  <a:pt x="204367" y="0"/>
                </a:moveTo>
                <a:lnTo>
                  <a:pt x="168275" y="0"/>
                </a:lnTo>
                <a:lnTo>
                  <a:pt x="0" y="673100"/>
                </a:lnTo>
                <a:lnTo>
                  <a:pt x="36092" y="673100"/>
                </a:lnTo>
                <a:lnTo>
                  <a:pt x="204367" y="0"/>
                </a:ln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849311" y="687475"/>
            <a:ext cx="10730237" cy="55253"/>
          </a:xfrm>
          <a:prstGeom prst="parallelogram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867567" y="81323"/>
            <a:ext cx="7780158" cy="49669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zh-CN" altLang="en-US" sz="30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 Bold" panose="020B0800000000000000" charset="-122"/>
                <a:ea typeface="Source Han Sans CN Bold Bold" panose="020B0800000000000000" charset="-122"/>
              </a:rPr>
              <a:t>系统框架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306830" y="721360"/>
            <a:ext cx="22498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数据库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ER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图设计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783" y="81323"/>
            <a:ext cx="6299471" cy="677667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30305" y="1166350"/>
            <a:ext cx="521124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业务数据标准化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endParaRPr lang="en-US" altLang="zh-CN" sz="1400" kern="100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对应区域：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shipment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（订单）与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task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（任务）。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设计思路：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80604020202020204" pitchFamily="34" charset="0"/>
              <a:buChar char="•"/>
            </a:pP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订单拆解：系统将客户的原始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shipment 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转化为标准化的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task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。这是调度的最小单元。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80604020202020204" pitchFamily="34" charset="0"/>
              <a:buChar char="•"/>
            </a:pP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货物解耦：通过独立出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cargo 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表，我们能灵活处理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一单多货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多单拼柜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的场景，不再受限于订单形式，让调度算法专注于货物本身的属性（如重量、体积、温控要求）。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2. 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人车货的柔性调度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endParaRPr lang="en-US" altLang="zh-CN" sz="1400" kern="100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对应区域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trip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（行程）及其下方的两张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assign 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关联表。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设计思路：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80604020202020204" pitchFamily="34" charset="0"/>
              <a:buChar char="•"/>
            </a:pP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行程容器：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trip 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是整个系统的枢纽，它动态绑定了车辆（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vehicle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）和时间。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80604020202020204" pitchFamily="34" charset="0"/>
              <a:buChar char="•"/>
            </a:pP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多任务拼载：利用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trip_task_assign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表，我们允许一个行程挂载多个任务。这不仅支持了顺路拼单业务，还能通过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sequence 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字段严格控制装卸顺序。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3. 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全链路分段追踪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对应区域：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trip_segment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（路段）与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poi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（关键点）。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设计思路：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80604020202020204" pitchFamily="34" charset="0"/>
              <a:buChar char="•"/>
            </a:pP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轨迹颗粒度：为了解决传统物流“只有首尾状态，没有过程监控”的痛点，我们将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trip 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拆解为一段段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trip_segment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80604020202020204" pitchFamily="34" charset="0"/>
              <a:buChar char="•"/>
            </a:pP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节点可视化：结合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poi 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信息，系统能精确记录车辆在仓库、加油站、服务区的具体状态。这为前端地图的实时轨迹回放和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ETA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（预计到达时间）计算提供了底层数据支撑。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37000"/>
                </a:schemeClr>
              </a:gs>
              <a:gs pos="75000">
                <a:schemeClr val="bg1">
                  <a:alpha val="20000"/>
                </a:schemeClr>
              </a:gs>
            </a:gsLst>
            <a:lin ang="16200000" scaled="0"/>
          </a:gradFill>
          <a:ln w="1905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flipH="1">
            <a:off x="747126" y="190163"/>
            <a:ext cx="10939376" cy="426343"/>
          </a:xfrm>
          <a:custGeom>
            <a:avLst/>
            <a:gdLst>
              <a:gd name="connsiteX0" fmla="*/ 10939376 w 10939376"/>
              <a:gd name="connsiteY0" fmla="*/ 0 h 426343"/>
              <a:gd name="connsiteX1" fmla="*/ 8834020 w 10939376"/>
              <a:gd name="connsiteY1" fmla="*/ 0 h 426343"/>
              <a:gd name="connsiteX2" fmla="*/ 8107647 w 10939376"/>
              <a:gd name="connsiteY2" fmla="*/ 0 h 426343"/>
              <a:gd name="connsiteX3" fmla="*/ 7875400 w 10939376"/>
              <a:gd name="connsiteY3" fmla="*/ 0 h 426343"/>
              <a:gd name="connsiteX4" fmla="*/ 6002291 w 10939376"/>
              <a:gd name="connsiteY4" fmla="*/ 0 h 426343"/>
              <a:gd name="connsiteX5" fmla="*/ 5770044 w 10939376"/>
              <a:gd name="connsiteY5" fmla="*/ 0 h 426343"/>
              <a:gd name="connsiteX6" fmla="*/ 5275919 w 10939376"/>
              <a:gd name="connsiteY6" fmla="*/ 0 h 426343"/>
              <a:gd name="connsiteX7" fmla="*/ 5043671 w 10939376"/>
              <a:gd name="connsiteY7" fmla="*/ 0 h 426343"/>
              <a:gd name="connsiteX8" fmla="*/ 3170562 w 10939376"/>
              <a:gd name="connsiteY8" fmla="*/ 0 h 426343"/>
              <a:gd name="connsiteX9" fmla="*/ 2938314 w 10939376"/>
              <a:gd name="connsiteY9" fmla="*/ 0 h 426343"/>
              <a:gd name="connsiteX10" fmla="*/ 2211942 w 10939376"/>
              <a:gd name="connsiteY10" fmla="*/ 0 h 426343"/>
              <a:gd name="connsiteX11" fmla="*/ 106586 w 10939376"/>
              <a:gd name="connsiteY11" fmla="*/ 0 h 426343"/>
              <a:gd name="connsiteX12" fmla="*/ 0 w 10939376"/>
              <a:gd name="connsiteY12" fmla="*/ 426343 h 426343"/>
              <a:gd name="connsiteX13" fmla="*/ 2105356 w 10939376"/>
              <a:gd name="connsiteY13" fmla="*/ 426343 h 426343"/>
              <a:gd name="connsiteX14" fmla="*/ 2831729 w 10939376"/>
              <a:gd name="connsiteY14" fmla="*/ 426343 h 426343"/>
              <a:gd name="connsiteX15" fmla="*/ 3063976 w 10939376"/>
              <a:gd name="connsiteY15" fmla="*/ 426343 h 426343"/>
              <a:gd name="connsiteX16" fmla="*/ 4937085 w 10939376"/>
              <a:gd name="connsiteY16" fmla="*/ 426343 h 426343"/>
              <a:gd name="connsiteX17" fmla="*/ 5169333 w 10939376"/>
              <a:gd name="connsiteY17" fmla="*/ 426343 h 426343"/>
              <a:gd name="connsiteX18" fmla="*/ 5663458 w 10939376"/>
              <a:gd name="connsiteY18" fmla="*/ 426343 h 426343"/>
              <a:gd name="connsiteX19" fmla="*/ 5895706 w 10939376"/>
              <a:gd name="connsiteY19" fmla="*/ 426343 h 426343"/>
              <a:gd name="connsiteX20" fmla="*/ 7768814 w 10939376"/>
              <a:gd name="connsiteY20" fmla="*/ 426343 h 426343"/>
              <a:gd name="connsiteX21" fmla="*/ 8001062 w 10939376"/>
              <a:gd name="connsiteY21" fmla="*/ 426343 h 426343"/>
              <a:gd name="connsiteX22" fmla="*/ 8727434 w 10939376"/>
              <a:gd name="connsiteY22" fmla="*/ 426343 h 426343"/>
              <a:gd name="connsiteX23" fmla="*/ 10832790 w 10939376"/>
              <a:gd name="connsiteY23" fmla="*/ 426343 h 426343"/>
            </a:gdLst>
            <a:ahLst/>
            <a:cxnLst/>
            <a:rect l="l" t="t" r="r" b="b"/>
            <a:pathLst>
              <a:path w="10939376" h="426343">
                <a:moveTo>
                  <a:pt x="10939376" y="0"/>
                </a:moveTo>
                <a:lnTo>
                  <a:pt x="8834020" y="0"/>
                </a:lnTo>
                <a:lnTo>
                  <a:pt x="8107647" y="0"/>
                </a:lnTo>
                <a:lnTo>
                  <a:pt x="7875400" y="0"/>
                </a:lnTo>
                <a:lnTo>
                  <a:pt x="6002291" y="0"/>
                </a:lnTo>
                <a:lnTo>
                  <a:pt x="5770044" y="0"/>
                </a:lnTo>
                <a:lnTo>
                  <a:pt x="5275919" y="0"/>
                </a:lnTo>
                <a:lnTo>
                  <a:pt x="5043671" y="0"/>
                </a:lnTo>
                <a:lnTo>
                  <a:pt x="3170562" y="0"/>
                </a:lnTo>
                <a:lnTo>
                  <a:pt x="2938314" y="0"/>
                </a:lnTo>
                <a:lnTo>
                  <a:pt x="2211942" y="0"/>
                </a:lnTo>
                <a:lnTo>
                  <a:pt x="106586" y="0"/>
                </a:lnTo>
                <a:lnTo>
                  <a:pt x="0" y="426343"/>
                </a:lnTo>
                <a:lnTo>
                  <a:pt x="2105356" y="426343"/>
                </a:lnTo>
                <a:lnTo>
                  <a:pt x="2831729" y="426343"/>
                </a:lnTo>
                <a:lnTo>
                  <a:pt x="3063976" y="426343"/>
                </a:lnTo>
                <a:lnTo>
                  <a:pt x="4937085" y="426343"/>
                </a:lnTo>
                <a:lnTo>
                  <a:pt x="5169333" y="426343"/>
                </a:lnTo>
                <a:lnTo>
                  <a:pt x="5663458" y="426343"/>
                </a:lnTo>
                <a:lnTo>
                  <a:pt x="5895706" y="426343"/>
                </a:lnTo>
                <a:lnTo>
                  <a:pt x="7768814" y="426343"/>
                </a:lnTo>
                <a:lnTo>
                  <a:pt x="8001062" y="426343"/>
                </a:lnTo>
                <a:lnTo>
                  <a:pt x="8727434" y="426343"/>
                </a:lnTo>
                <a:lnTo>
                  <a:pt x="10832790" y="426343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flipH="1">
            <a:off x="607512" y="292767"/>
            <a:ext cx="204367" cy="673100"/>
          </a:xfrm>
          <a:custGeom>
            <a:avLst/>
            <a:gdLst>
              <a:gd name="connsiteX0" fmla="*/ 204367 w 204367"/>
              <a:gd name="connsiteY0" fmla="*/ 0 h 673100"/>
              <a:gd name="connsiteX1" fmla="*/ 168275 w 204367"/>
              <a:gd name="connsiteY1" fmla="*/ 0 h 673100"/>
              <a:gd name="connsiteX2" fmla="*/ 0 w 204367"/>
              <a:gd name="connsiteY2" fmla="*/ 673100 h 673100"/>
              <a:gd name="connsiteX3" fmla="*/ 36092 w 204367"/>
              <a:gd name="connsiteY3" fmla="*/ 673100 h 673100"/>
              <a:gd name="connsiteX4" fmla="*/ 204367 w 204367"/>
              <a:gd name="connsiteY4" fmla="*/ 0 h 673100"/>
            </a:gdLst>
            <a:ahLst/>
            <a:cxnLst/>
            <a:rect l="l" t="t" r="r" b="b"/>
            <a:pathLst>
              <a:path w="204367" h="673100">
                <a:moveTo>
                  <a:pt x="204367" y="0"/>
                </a:moveTo>
                <a:lnTo>
                  <a:pt x="168275" y="0"/>
                </a:lnTo>
                <a:lnTo>
                  <a:pt x="0" y="673100"/>
                </a:lnTo>
                <a:lnTo>
                  <a:pt x="36092" y="673100"/>
                </a:lnTo>
                <a:lnTo>
                  <a:pt x="204367" y="0"/>
                </a:ln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flipH="1">
            <a:off x="40686" y="292767"/>
            <a:ext cx="681040" cy="426343"/>
          </a:xfrm>
          <a:custGeom>
            <a:avLst/>
            <a:gdLst>
              <a:gd name="connsiteX0" fmla="*/ 556291 w 556291"/>
              <a:gd name="connsiteY0" fmla="*/ 0 h 348248"/>
              <a:gd name="connsiteX1" fmla="*/ 87062 w 556291"/>
              <a:gd name="connsiteY1" fmla="*/ 0 h 348248"/>
              <a:gd name="connsiteX2" fmla="*/ 0 w 556291"/>
              <a:gd name="connsiteY2" fmla="*/ 348248 h 348248"/>
              <a:gd name="connsiteX3" fmla="*/ 469229 w 556291"/>
              <a:gd name="connsiteY3" fmla="*/ 348248 h 348248"/>
              <a:gd name="connsiteX4" fmla="*/ 556291 w 556291"/>
              <a:gd name="connsiteY4" fmla="*/ 0 h 348248"/>
            </a:gdLst>
            <a:ahLst/>
            <a:cxnLst/>
            <a:rect l="l" t="t" r="r" b="b"/>
            <a:pathLst>
              <a:path w="556291" h="348248">
                <a:moveTo>
                  <a:pt x="556291" y="0"/>
                </a:moveTo>
                <a:lnTo>
                  <a:pt x="87062" y="0"/>
                </a:lnTo>
                <a:lnTo>
                  <a:pt x="0" y="348248"/>
                </a:lnTo>
                <a:lnTo>
                  <a:pt x="469229" y="348248"/>
                </a:lnTo>
                <a:lnTo>
                  <a:pt x="556291" y="0"/>
                </a:ln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flipH="1">
            <a:off x="663200" y="-56594"/>
            <a:ext cx="204367" cy="673100"/>
          </a:xfrm>
          <a:custGeom>
            <a:avLst/>
            <a:gdLst>
              <a:gd name="connsiteX0" fmla="*/ 204367 w 204367"/>
              <a:gd name="connsiteY0" fmla="*/ 0 h 673100"/>
              <a:gd name="connsiteX1" fmla="*/ 168275 w 204367"/>
              <a:gd name="connsiteY1" fmla="*/ 0 h 673100"/>
              <a:gd name="connsiteX2" fmla="*/ 0 w 204367"/>
              <a:gd name="connsiteY2" fmla="*/ 673100 h 673100"/>
              <a:gd name="connsiteX3" fmla="*/ 36092 w 204367"/>
              <a:gd name="connsiteY3" fmla="*/ 673100 h 673100"/>
              <a:gd name="connsiteX4" fmla="*/ 204367 w 204367"/>
              <a:gd name="connsiteY4" fmla="*/ 0 h 673100"/>
            </a:gdLst>
            <a:ahLst/>
            <a:cxnLst/>
            <a:rect l="l" t="t" r="r" b="b"/>
            <a:pathLst>
              <a:path w="204367" h="673100">
                <a:moveTo>
                  <a:pt x="204367" y="0"/>
                </a:moveTo>
                <a:lnTo>
                  <a:pt x="168275" y="0"/>
                </a:lnTo>
                <a:lnTo>
                  <a:pt x="0" y="673100"/>
                </a:lnTo>
                <a:lnTo>
                  <a:pt x="36092" y="673100"/>
                </a:lnTo>
                <a:lnTo>
                  <a:pt x="204367" y="0"/>
                </a:ln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956265" y="161032"/>
            <a:ext cx="7780158" cy="49669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zh-CN" altLang="en-US" sz="2800" b="1"/>
              <a:t>项目的</a:t>
            </a:r>
            <a:r>
              <a:rPr kumimoji="1" lang="zh-CN" altLang="en-US" sz="2800" b="1"/>
              <a:t>部署</a:t>
            </a:r>
            <a:endParaRPr kumimoji="1" lang="zh-CN" altLang="en-US" sz="2800" b="1"/>
          </a:p>
        </p:txBody>
      </p:sp>
      <p:sp>
        <p:nvSpPr>
          <p:cNvPr id="23" name="标题 1"/>
          <p:cNvSpPr txBox="1"/>
          <p:nvPr/>
        </p:nvSpPr>
        <p:spPr>
          <a:xfrm flipH="1">
            <a:off x="849311" y="687475"/>
            <a:ext cx="10730237" cy="55253"/>
          </a:xfrm>
          <a:prstGeom prst="parallelogram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6990" y="939800"/>
            <a:ext cx="401701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项目部署架构：</a:t>
            </a:r>
            <a:endParaRPr lang="zh-CN" altLang="en-US" sz="1600"/>
          </a:p>
          <a:p>
            <a:r>
              <a:rPr lang="zh-CN" altLang="en-US" sz="1600"/>
              <a:t>前端访问：</a:t>
            </a:r>
            <a:endParaRPr lang="zh-CN" altLang="en-US" sz="1600"/>
          </a:p>
          <a:p>
            <a:r>
              <a:rPr lang="zh-CN" altLang="en-US" sz="1600"/>
              <a:t>用户通过</a:t>
            </a:r>
            <a:r>
              <a:rPr lang="en-US" altLang="zh-CN" sz="1600"/>
              <a:t>Web</a:t>
            </a:r>
            <a:r>
              <a:rPr lang="zh-CN" altLang="en-US" sz="1600"/>
              <a:t>客户端（</a:t>
            </a:r>
            <a:r>
              <a:rPr lang="en-US" altLang="zh-CN" sz="1600"/>
              <a:t>HTML/JS</a:t>
            </a:r>
            <a:r>
              <a:rPr lang="zh-CN" altLang="en-US" sz="1600"/>
              <a:t>）与系统交互。</a:t>
            </a:r>
            <a:endParaRPr lang="zh-CN" altLang="en-US" sz="1600"/>
          </a:p>
          <a:p>
            <a:r>
              <a:rPr lang="en-US" altLang="zh-CN" sz="1600"/>
              <a:t>Web</a:t>
            </a:r>
            <a:r>
              <a:rPr lang="zh-CN" altLang="en-US" sz="1600"/>
              <a:t>服务器</a:t>
            </a:r>
            <a:r>
              <a:rPr lang="en-US" altLang="zh-CN" sz="1600"/>
              <a:t> (Nginx)</a:t>
            </a:r>
            <a:r>
              <a:rPr lang="zh-CN" altLang="en-US" sz="1600"/>
              <a:t>：</a:t>
            </a:r>
            <a:endParaRPr lang="en-US" altLang="zh-CN" sz="1600"/>
          </a:p>
          <a:p>
            <a:r>
              <a:rPr lang="zh-CN" altLang="en-US" sz="1600"/>
              <a:t>作为反向代理和负载均衡器，将请求转发至后端服务。</a:t>
            </a:r>
            <a:endParaRPr lang="zh-CN" altLang="en-US" sz="1600"/>
          </a:p>
          <a:p>
            <a:r>
              <a:rPr lang="zh-CN" altLang="en-US" sz="1600"/>
              <a:t>应用服务</a:t>
            </a:r>
            <a:r>
              <a:rPr lang="en-US" altLang="zh-CN" sz="1600"/>
              <a:t> (Kubernetes</a:t>
            </a:r>
            <a:r>
              <a:rPr lang="zh-CN" altLang="en-US" sz="1600"/>
              <a:t>集群</a:t>
            </a:r>
            <a:r>
              <a:rPr lang="en-US" altLang="zh-CN" sz="1600"/>
              <a:t>)</a:t>
            </a:r>
            <a:r>
              <a:rPr lang="zh-CN" altLang="en-US" sz="1600"/>
              <a:t>：</a:t>
            </a:r>
            <a:endParaRPr lang="en-US" altLang="zh-CN" sz="1600"/>
          </a:p>
          <a:p>
            <a:r>
              <a:rPr lang="zh-CN" altLang="en-US" sz="1600"/>
              <a:t>核心应用运行在</a:t>
            </a:r>
            <a:r>
              <a:rPr lang="en-US" altLang="zh-CN" sz="1600"/>
              <a:t>K8s Pods</a:t>
            </a:r>
            <a:r>
              <a:rPr lang="zh-CN" altLang="en-US" sz="1600"/>
              <a:t>中，由</a:t>
            </a:r>
            <a:r>
              <a:rPr lang="en-US" altLang="zh-CN" sz="1600"/>
              <a:t>Ingress-Nginx</a:t>
            </a:r>
            <a:r>
              <a:rPr lang="zh-CN" altLang="en-US" sz="1600"/>
              <a:t>接收外部流量，</a:t>
            </a:r>
            <a:r>
              <a:rPr lang="en-US" altLang="zh-CN" sz="1600"/>
              <a:t>Deployment</a:t>
            </a:r>
            <a:r>
              <a:rPr lang="zh-CN" altLang="en-US" sz="1600"/>
              <a:t>管理</a:t>
            </a:r>
            <a:r>
              <a:rPr lang="en-US" altLang="zh-CN" sz="1600"/>
              <a:t>Pod</a:t>
            </a:r>
            <a:r>
              <a:rPr lang="zh-CN" altLang="en-US" sz="1600"/>
              <a:t>的生命周期和扩缩容。</a:t>
            </a:r>
            <a:endParaRPr lang="zh-CN" altLang="en-US" sz="1600"/>
          </a:p>
          <a:p>
            <a:r>
              <a:rPr lang="zh-CN" altLang="en-US" sz="1600"/>
              <a:t>数据库</a:t>
            </a:r>
            <a:r>
              <a:rPr lang="en-US" altLang="zh-CN" sz="1600"/>
              <a:t> (MySQL)</a:t>
            </a:r>
            <a:r>
              <a:rPr lang="zh-CN" altLang="en-US" sz="1600"/>
              <a:t>：</a:t>
            </a:r>
            <a:endParaRPr lang="en-US" altLang="zh-CN" sz="1600"/>
          </a:p>
          <a:p>
            <a:r>
              <a:rPr lang="zh-CN" altLang="en-US" sz="1600"/>
              <a:t>存储所有业务数据，通过</a:t>
            </a:r>
            <a:r>
              <a:rPr lang="en-US" altLang="zh-CN" sz="1600"/>
              <a:t>JDBC</a:t>
            </a:r>
            <a:r>
              <a:rPr lang="zh-CN" altLang="en-US" sz="1600"/>
              <a:t>协议与应用服务通信。</a:t>
            </a:r>
            <a:endParaRPr lang="zh-CN" altLang="en-US" sz="1600"/>
          </a:p>
          <a:p>
            <a:r>
              <a:rPr lang="en-US" altLang="zh-CN" sz="1600"/>
              <a:t>CI/CD</a:t>
            </a:r>
            <a:r>
              <a:rPr lang="zh-CN" altLang="en-US" sz="1600"/>
              <a:t>流水线：</a:t>
            </a:r>
            <a:endParaRPr lang="zh-CN" altLang="en-US" sz="1600"/>
          </a:p>
          <a:p>
            <a:r>
              <a:rPr lang="en-US" altLang="zh-CN" sz="1600"/>
              <a:t>GitHub</a:t>
            </a:r>
            <a:r>
              <a:rPr lang="zh-CN" altLang="en-US" sz="1600"/>
              <a:t>托管代码，</a:t>
            </a:r>
            <a:r>
              <a:rPr lang="en-US" altLang="zh-CN" sz="1600"/>
              <a:t>Jenkins</a:t>
            </a:r>
            <a:r>
              <a:rPr lang="zh-CN" altLang="en-US" sz="1600"/>
              <a:t>触发构建并打包成</a:t>
            </a:r>
            <a:r>
              <a:rPr lang="en-US" altLang="zh-CN" sz="1600"/>
              <a:t>Docker</a:t>
            </a:r>
            <a:r>
              <a:rPr lang="zh-CN" altLang="en-US" sz="1600"/>
              <a:t>镜像，上传至</a:t>
            </a:r>
            <a:r>
              <a:rPr lang="en-US" altLang="zh-CN" sz="1600"/>
              <a:t>DockerHub</a:t>
            </a:r>
            <a:r>
              <a:rPr lang="zh-CN" altLang="en-US" sz="1600"/>
              <a:t>。</a:t>
            </a:r>
            <a:endParaRPr lang="zh-CN" altLang="en-US" sz="1600"/>
          </a:p>
          <a:p>
            <a:r>
              <a:rPr lang="en-US" altLang="zh-CN" sz="1600"/>
              <a:t>Kubernetes</a:t>
            </a:r>
            <a:r>
              <a:rPr lang="zh-CN" altLang="en-US" sz="1600"/>
              <a:t>自动拉取最新镜像进行部署。</a:t>
            </a:r>
            <a:endParaRPr lang="zh-CN" altLang="en-US" sz="1600"/>
          </a:p>
          <a:p>
            <a:r>
              <a:rPr lang="zh-CN" altLang="en-US" sz="1600"/>
              <a:t>核心业务实体：</a:t>
            </a:r>
            <a:endParaRPr lang="zh-CN" altLang="en-US" sz="1600"/>
          </a:p>
          <a:p>
            <a:r>
              <a:rPr lang="zh-CN" altLang="en-US" sz="1600"/>
              <a:t>包括</a:t>
            </a:r>
            <a:r>
              <a:rPr lang="en-US" altLang="zh-CN" sz="1600"/>
              <a:t>Vehicle</a:t>
            </a:r>
            <a:r>
              <a:rPr lang="zh-CN" altLang="en-US" sz="1600"/>
              <a:t>、</a:t>
            </a:r>
            <a:r>
              <a:rPr lang="en-US" altLang="zh-CN" sz="1600"/>
              <a:t>Poi</a:t>
            </a:r>
            <a:r>
              <a:rPr lang="zh-CN" altLang="en-US" sz="1600"/>
              <a:t>、</a:t>
            </a:r>
            <a:r>
              <a:rPr lang="en-US" altLang="zh-CN" sz="1600"/>
              <a:t>Shipment</a:t>
            </a:r>
            <a:r>
              <a:rPr lang="zh-CN" altLang="en-US" sz="1600"/>
              <a:t>等模型，支持业务逻辑处理。</a:t>
            </a:r>
            <a:endParaRPr lang="zh-CN" altLang="en-US" sz="160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3945255" y="502920"/>
            <a:ext cx="8246745" cy="6344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929005"/>
            <a:ext cx="9557385" cy="5189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</Words>
  <Application>WPS Presentation</Application>
  <PresentationFormat>宽屏</PresentationFormat>
  <Paragraphs>38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2" baseType="lpstr">
      <vt:lpstr>Arial</vt:lpstr>
      <vt:lpstr>宋体</vt:lpstr>
      <vt:lpstr>Wingdings</vt:lpstr>
      <vt:lpstr>DejaVu Sans</vt:lpstr>
      <vt:lpstr>宋体</vt:lpstr>
      <vt:lpstr>Arial Unicode MS</vt:lpstr>
      <vt:lpstr>Calibri Light</vt:lpstr>
      <vt:lpstr>Noto Sans CJK SC</vt:lpstr>
      <vt:lpstr>微软雅黑</vt:lpstr>
      <vt:lpstr>Calibri</vt:lpstr>
      <vt:lpstr>Hack Nerd Font</vt:lpstr>
      <vt:lpstr>Source Han Sans CN Bold Bold</vt:lpstr>
      <vt:lpstr>Noto Sans CJK HK Black</vt:lpstr>
      <vt:lpstr>黑体</vt:lpstr>
      <vt:lpstr>Times New Roman</vt:lpstr>
      <vt:lpstr>Source Han Sans CN Normal</vt:lpstr>
      <vt:lpstr>Noto Sans CJK HK DemiLight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acacia</dc:creator>
  <cp:lastModifiedBy>acacia</cp:lastModifiedBy>
  <cp:revision>6</cp:revision>
  <dcterms:created xsi:type="dcterms:W3CDTF">2026-03-02T14:26:55Z</dcterms:created>
  <dcterms:modified xsi:type="dcterms:W3CDTF">2026-03-02T14:26:55Z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2052-11.1.0.11723</vt:lpwstr>
  </property>
  <property fmtid="{D5CDD505-2E9C-101B-9397-08002B2CF9AE}" pid="3" name="ICV">
    <vt:lpwstr/>
  </property>
</Properties>
</file>